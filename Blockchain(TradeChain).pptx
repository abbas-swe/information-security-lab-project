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11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11871" y="1903893"/>
            <a:ext cx="492025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350" b="1" kern="0" spc="3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TRADECHAIN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111871" y="2812935"/>
            <a:ext cx="492025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Blockchain Solutions for Global Trade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29" y="3482662"/>
            <a:ext cx="125016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78338" y="3468374"/>
            <a:ext cx="1150956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23232"/>
                </a:solidFill>
              </a:rPr>
              <a:t>Syed Nazr-e-Abbas &amp;</a:t>
            </a:r>
            <a:br>
              <a:rPr lang="en-US" sz="105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050" dirty="0">
                <a:solidFill>
                  <a:srgbClr val="323232"/>
                </a:solidFill>
              </a:rPr>
              <a:t>Muhammad Fahad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068" y="3482662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1380" y="3468374"/>
            <a:ext cx="1721644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Comsats University Islamabad Attock Campus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4474" y="3482662"/>
            <a:ext cx="125016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95110" y="3468374"/>
            <a:ext cx="71494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May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650" y="548032"/>
            <a:ext cx="4018359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is Blockchain?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249905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5838" y="1282990"/>
            <a:ext cx="351115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Decentralized Ledger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64406" y="1594681"/>
            <a:ext cx="35111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distributed database shared across a network of nodes.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239659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1544" y="2307524"/>
            <a:ext cx="319861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Immutable Records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21544" y="2619215"/>
            <a:ext cx="31986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cannot be altered once it is recorded in a block.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256132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4406" y="3280388"/>
            <a:ext cx="368260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42975" y="3643748"/>
            <a:ext cx="36826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participants have access to the same single source of truth.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4074436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2259" y="4101536"/>
            <a:ext cx="370403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921544" y="4483905"/>
            <a:ext cx="370403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cryptography (SHA-256) secures every transaction.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5652" y="657867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Real-World Blockchain Examples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28688" y="1578266"/>
            <a:ext cx="3571875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1706854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2249779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071563" y="2621254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 and Ethereum for decentralized payments and smart contracts.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643438" y="1578266"/>
            <a:ext cx="3571875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706854"/>
            <a:ext cx="321469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6313" y="2249779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Supply Chain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786313" y="2621254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Food Trust for tracking food products from farm to table.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928688" y="3278479"/>
            <a:ext cx="3571875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3407066"/>
            <a:ext cx="257175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563" y="3949991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Banking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71563" y="4321466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Ripple for fast, low-cost international cross-border payments.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43438" y="3278479"/>
            <a:ext cx="3571875" cy="15716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407066"/>
            <a:ext cx="289322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86313" y="3949991"/>
            <a:ext cx="3286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786313" y="4321466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TradeLens (Maersk &amp; IBM) for digitizing global supply chains.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4356" y="706087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Problem: Traditional Systems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1735429"/>
            <a:ext cx="257175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35856" y="1663991"/>
            <a:ext cx="3214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35856" y="1949741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points of failure make systems vulnerable to cyber-attacks and data loss.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584" y="1735429"/>
            <a:ext cx="321469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7794" y="1663991"/>
            <a:ext cx="3214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Lack of Transparency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207794" y="1949741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processes make it difficult to track data history and verify authenticity.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1" y="2645532"/>
            <a:ext cx="192881" cy="257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5856" y="2574094"/>
            <a:ext cx="3214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Inefficiency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135856" y="2859844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reliance on manual paperwork and intermediaries leads to significant delays.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658" y="2645532"/>
            <a:ext cx="289322" cy="2571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07794" y="2574094"/>
            <a:ext cx="32146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Tampering Risks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207794" y="2859844"/>
            <a:ext cx="32146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can be altered without a clear audit trail, increasing the risk of fraud.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Our Solution: TradeChain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033597"/>
            <a:ext cx="2357438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2355066"/>
            <a:ext cx="23574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Specialized Implementation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8650" y="2905134"/>
            <a:ext cx="2357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specifically for secure and efficient trade data management.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539477"/>
            <a:ext cx="2357438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3860946"/>
            <a:ext cx="23574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Wallets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8650" y="4411014"/>
            <a:ext cx="2357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digital identities for all participants in the trade ecosystem.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4093369" y="3010839"/>
            <a:ext cx="1071563" cy="85725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213" y="2033597"/>
            <a:ext cx="2357438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72213" y="2355066"/>
            <a:ext cx="23574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Immutable Storage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272213" y="2905134"/>
            <a:ext cx="2357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Permanent, tamper-proof record of every trade transaction on the ledger.</a:t>
            </a:r>
            <a:endParaRPr lang="en-US" sz="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213" y="3539477"/>
            <a:ext cx="2357438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72213" y="3860946"/>
            <a:ext cx="23574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Consensus Validation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6272213" y="4411014"/>
            <a:ext cx="2357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agreement ensures the integrity and validity of the entire chain.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06087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TradeChain Works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14400" y="1856873"/>
            <a:ext cx="600075" cy="600075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028323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2585535"/>
            <a:ext cx="15716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Initiation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28625" y="2887359"/>
            <a:ext cx="15716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creates a trade transaction via their secure digital wallet.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2593181" y="1856873"/>
            <a:ext cx="600075" cy="600075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919" y="2028323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07406" y="2585535"/>
            <a:ext cx="15716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107406" y="2887359"/>
            <a:ext cx="15716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nodes validate the transaction using digital signatures.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4271963" y="1856873"/>
            <a:ext cx="600075" cy="600075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413" y="2028323"/>
            <a:ext cx="257175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86188" y="2585535"/>
            <a:ext cx="15716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Block Formation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786188" y="2887359"/>
            <a:ext cx="15716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transactions are grouped into a new data block.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5950744" y="1856873"/>
            <a:ext cx="600075" cy="600075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6481" y="2028323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64969" y="2585535"/>
            <a:ext cx="15716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Hashing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464969" y="2887359"/>
            <a:ext cx="15716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block is hashed and linked to the previous block in the chain.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7629525" y="1856873"/>
            <a:ext cx="600075" cy="600075"/>
          </a:xfrm>
          <a:prstGeom prst="rect">
            <a:avLst/>
          </a:prstGeom>
          <a:solidFill>
            <a:srgbClr val="00E5FF">
              <a:alpha val="10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550" y="2028323"/>
            <a:ext cx="200025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43750" y="2585535"/>
            <a:ext cx="15716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143750" y="2887359"/>
            <a:ext cx="157162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block is synchronized across all nodes in the network.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0678" y="682409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Implementation Logic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475254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225" y="1475254"/>
            <a:ext cx="126265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Block Structure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28625" y="1781864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block encapsulates an index, a precise timestamp, the trade data, and the cryptographic hash of the preceding block.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29" y="261989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7225" y="2613330"/>
            <a:ext cx="146268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SHA-256 Hashing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28625" y="2904149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one-way cryptographic function that generates a unique 256-bit signature. Any change in data results in a completely different hash.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769834"/>
            <a:ext cx="17859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2944" y="3746590"/>
            <a:ext cx="120372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Chain Integrity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28625" y="4025614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storing the previous hash, blocks are cryptographically linked. Tampering with one block breaks all subsequent links.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000500" y="1578266"/>
            <a:ext cx="4714875" cy="2943225"/>
          </a:xfrm>
          <a:prstGeom prst="rect">
            <a:avLst/>
          </a:prstGeom>
          <a:solidFill>
            <a:srgbClr val="00E5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8"/>
          <p:cNvSpPr/>
          <p:nvPr/>
        </p:nvSpPr>
        <p:spPr>
          <a:xfrm>
            <a:off x="5100638" y="2208702"/>
            <a:ext cx="2514600" cy="878681"/>
          </a:xfrm>
          <a:prstGeom prst="rect">
            <a:avLst/>
          </a:prstGeom>
          <a:solidFill>
            <a:srgbClr val="00E5FF">
              <a:alpha val="5000"/>
            </a:srgbClr>
          </a:solidFill>
          <a:ln w="18288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9"/>
          <p:cNvSpPr/>
          <p:nvPr/>
        </p:nvSpPr>
        <p:spPr>
          <a:xfrm>
            <a:off x="5214938" y="2323002"/>
            <a:ext cx="228600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Index: 1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5214938" y="2510526"/>
            <a:ext cx="228600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Timestamp: 1716201600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5214938" y="2698049"/>
            <a:ext cx="228600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Data: \"Trade ID: TC-99\"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214938" y="2885573"/>
            <a:ext cx="228600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Prev Hash: 0000a1b2...</a:t>
            </a:r>
            <a:endParaRPr lang="en-US" sz="7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3037" y="3192754"/>
            <a:ext cx="150019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73055" y="3173109"/>
            <a:ext cx="96976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B8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</a:t>
            </a:r>
            <a:endParaRPr lang="en-US" sz="15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820" y="3192754"/>
            <a:ext cx="150019" cy="20002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979194" y="3501721"/>
            <a:ext cx="2757488" cy="360759"/>
          </a:xfrm>
          <a:prstGeom prst="rect">
            <a:avLst/>
          </a:prstGeom>
          <a:solidFill>
            <a:srgbClr val="1A1A1A"/>
          </a:solidFill>
          <a:ln w="9144">
            <a:solidFill>
              <a:srgbClr val="00B8D4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5"/>
          <p:cNvSpPr/>
          <p:nvPr/>
        </p:nvSpPr>
        <p:spPr>
          <a:xfrm>
            <a:off x="4979194" y="3501721"/>
            <a:ext cx="2757488" cy="360759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f32b8c9a1e4d5f6b7a8c9d0e1f2a3b4c5d6e7f8a9b0c1d2e3f4a5b6c7d8e9f0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213" y="698943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Implementation Code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57213" y="1287019"/>
            <a:ext cx="8001000" cy="3686314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557213" y="1549691"/>
            <a:ext cx="8001000" cy="29289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557213" y="1835441"/>
            <a:ext cx="8001000" cy="714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1200150" y="1639881"/>
            <a:ext cx="79652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blockchain_logic.py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557213" y="1835441"/>
            <a:ext cx="8001000" cy="2994347"/>
          </a:xfrm>
          <a:prstGeom prst="rect">
            <a:avLst/>
          </a:prstGeom>
          <a:noFill/>
          <a:ln/>
        </p:spPr>
        <p:txBody>
          <a:bodyPr wrap="square" lIns="255143" tIns="136017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hashlib
</a:t>
            </a: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time
</a:t>
            </a: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00B8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calculate_hash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(index, prev_hash, timestamp, data):
    </a:t>
            </a:r>
            <a:r>
              <a:rPr lang="en-US" sz="950" i="1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Combine block data into a single string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value = str(index) + str(prev_hash) + str(timestamp) + str(data)
    </a:t>
            </a:r>
            <a:r>
              <a:rPr lang="en-US" sz="950" i="1" dirty="0">
                <a:solidFill>
                  <a:srgbClr val="5555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Generate SHA-256 cryptographic fingerprint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endParaRPr lang="en-US" sz="9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hashlib.sha256(value.encode()).hexdigest()
</a:t>
            </a: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00B8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create_next_block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(last_block, data):
    idx = last_block.index + 1
    ts = time.time()
    h = calculate_hash(idx, last_block.hash, ts, data)
    </a:t>
            </a:r>
            <a:r>
              <a:rPr lang="en-US" sz="950" dirty="0">
                <a:solidFill>
                  <a:srgbClr val="00E5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950" dirty="0">
                <a:solidFill>
                  <a:srgbClr val="AAAA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Block(idx, last_block.hash, ts, data, h)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57213" y="4835816"/>
            <a:ext cx="8001000" cy="13751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00" b="1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calculate_hash</a:t>
            </a: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ensures immutability, while </a:t>
            </a:r>
            <a:r>
              <a:rPr lang="en-US" sz="800" b="1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create_next_block</a:t>
            </a: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maintains the cryptographic link between transactions.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Demonstration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2666991" cy="22288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769" y="1166217"/>
            <a:ext cx="357188" cy="3571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3862" y="1780580"/>
            <a:ext cx="172700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27382" y="2055614"/>
            <a:ext cx="2659960" cy="189604"/>
          </a:xfrm>
          <a:prstGeom prst="rect">
            <a:avLst/>
          </a:prstGeom>
          <a:noFill/>
          <a:ln/>
        </p:spPr>
        <p:txBody>
          <a:bodyPr wrap="none" lIns="136017" tIns="0" rIns="136017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AAAAA"/>
                </a:solidFill>
                <a:ea typeface="Inter" pitchFamily="34" charset="-122"/>
                <a:cs typeface="Inter" pitchFamily="34" charset="-120"/>
              </a:rPr>
              <a:t>Live blockchain metrics and node health.</a:t>
            </a:r>
            <a:endParaRPr lang="en-US" sz="1100" b="1" dirty="0"/>
          </a:p>
        </p:txBody>
      </p:sp>
      <p:sp>
        <p:nvSpPr>
          <p:cNvPr id="9" name="Shape 5"/>
          <p:cNvSpPr/>
          <p:nvPr/>
        </p:nvSpPr>
        <p:spPr>
          <a:xfrm>
            <a:off x="3228975" y="1037630"/>
            <a:ext cx="2671763" cy="22288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614" y="1166217"/>
            <a:ext cx="446484" cy="357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54946" y="1780580"/>
            <a:ext cx="141982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Participant Roles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233747" y="2055614"/>
            <a:ext cx="2662247" cy="342900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for Exporters, Importers and Banks.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492819" y="2541389"/>
            <a:ext cx="2144074" cy="442913"/>
          </a:xfrm>
          <a:prstGeom prst="rect">
            <a:avLst/>
          </a:prstGeom>
          <a:solidFill>
            <a:srgbClr val="00E5FF">
              <a:alpha val="3000"/>
            </a:srgbClr>
          </a:solidFill>
          <a:ln w="9144">
            <a:solidFill>
              <a:srgbClr val="444444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386263" y="2569964"/>
            <a:ext cx="357188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038869" y="1037630"/>
            <a:ext cx="2676534" cy="22288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3244" y="1166217"/>
            <a:ext cx="357188" cy="3571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66607" y="1780580"/>
            <a:ext cx="8304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048356" y="2055614"/>
            <a:ext cx="2666991" cy="342900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Searchable, tamper-evident history of trades.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307903" y="2541389"/>
            <a:ext cx="2147869" cy="442913"/>
          </a:xfrm>
          <a:prstGeom prst="rect">
            <a:avLst/>
          </a:prstGeom>
          <a:solidFill>
            <a:srgbClr val="00E5FF">
              <a:alpha val="3000"/>
            </a:srgbClr>
          </a:solidFill>
          <a:ln w="9144">
            <a:solidFill>
              <a:srgbClr val="444444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238963" y="2569964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Advantages &amp; Limitations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521116"/>
            <a:ext cx="257175" cy="257175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1592554"/>
            <a:ext cx="100013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1522009"/>
            <a:ext cx="155912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Advantages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28625" y="2094458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Enhanced Security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28625" y="232663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 hashing and decentralization eliminate single points of failure and prevent unauthorized data alteration.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28625" y="2999984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Operational Efficiency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28625" y="3232156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verification and digital documentation reduce manual paperwork and speed up trade processing times.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28625" y="3905510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D4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Transparency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8625" y="4137682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shared, immutable ledger provides all participants with a real-time, verifiable audit trail of every transaction.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714875" y="1521116"/>
            <a:ext cx="257175" cy="257175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456" y="1592554"/>
            <a:ext cx="100013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57775" y="1522009"/>
            <a:ext cx="186630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8888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14875" y="2094458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Scalability Challenges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14875" y="232663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the blockchain grows, the computational resources and time required for network synchronization can increase.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714875" y="2999984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Regulatory Landscape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14875" y="3232156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lack of global standardized legal frameworks for blockchain-based trade remains a significant hurdle for adoption.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714875" y="3905510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AAA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Integration Complexity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14875" y="4137682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Migrating from legacy centralized systems to a decentralized architecture requires substantial initial investment and training.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Future Scope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706854"/>
            <a:ext cx="385405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SUMMARY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047968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2237975"/>
            <a:ext cx="3378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Robust Security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85800" y="2454073"/>
            <a:ext cx="337899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SHA-256 hashing to guarantee data immutability.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688366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2878373"/>
            <a:ext cx="3437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Enhanced Transparency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685800" y="3094472"/>
            <a:ext cx="343793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shared ledger as a single source of truth for participants.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328764"/>
            <a:ext cx="157163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" y="3518771"/>
            <a:ext cx="35968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 Efficiency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85800" y="3734870"/>
            <a:ext cx="359687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manual overhead and intermediary delays across workflows.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4861322" y="1706854"/>
            <a:ext cx="385405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00B8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ROADMAP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322" y="2047968"/>
            <a:ext cx="117872" cy="1571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9206" y="2237975"/>
            <a:ext cx="36361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Smart Contracts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079206" y="2454073"/>
            <a:ext cx="3636169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payments and document releases via rules-based contracts.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322" y="2836934"/>
            <a:ext cx="176808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38142" y="3026941"/>
            <a:ext cx="33557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IoT Integration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5138142" y="3243039"/>
            <a:ext cx="335577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real-time sensor data for automated supply chain checks.</a:t>
            </a:r>
            <a:endParaRPr lang="en-US" sz="8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322" y="3477332"/>
            <a:ext cx="157163" cy="15716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18497" y="3667339"/>
            <a:ext cx="35575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23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Global Interoperability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5118497" y="3883437"/>
            <a:ext cx="35575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connections with international trade blockchain networks.</a:t>
            </a:r>
            <a:endParaRPr lang="en-US" sz="850" dirty="0"/>
          </a:p>
        </p:txBody>
      </p:sp>
      <p:sp>
        <p:nvSpPr>
          <p:cNvPr id="24" name="Text 15"/>
          <p:cNvSpPr/>
          <p:nvPr/>
        </p:nvSpPr>
        <p:spPr>
          <a:xfrm>
            <a:off x="6051946" y="4448497"/>
            <a:ext cx="3854053" cy="387157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kern="0" spc="2" dirty="0">
                <a:solidFill>
                  <a:srgbClr val="00E5FF">
                    <a:alpha val="8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824</Words>
  <Application>Microsoft Office PowerPoint</Application>
  <PresentationFormat>On-screen Show (16:9)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Fira Code</vt:lpstr>
      <vt:lpstr>Inter</vt:lpstr>
      <vt:lpstr>Inter Medium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Syed Nazr e Abbas</cp:lastModifiedBy>
  <cp:revision>10</cp:revision>
  <dcterms:created xsi:type="dcterms:W3CDTF">2026-05-19T19:33:19Z</dcterms:created>
  <dcterms:modified xsi:type="dcterms:W3CDTF">2026-05-20T10:03:58Z</dcterms:modified>
</cp:coreProperties>
</file>